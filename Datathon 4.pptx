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8229600" cx="14630400"/>
  <p:notesSz cx="14630400" cy="8229600"/>
  <p:embeddedFontLst>
    <p:embeddedFont>
      <p:font typeface="Century Gothic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B7AFB1-5672-4B3D-AF53-EA0E7236ACCD}">
  <a:tblStyle styleId="{38B7AFB1-5672-4B3D-AF53-EA0E7236AC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regular.fntdata"/><Relationship Id="rId10" Type="http://schemas.openxmlformats.org/officeDocument/2006/relationships/slide" Target="slides/slide4.xml"/><Relationship Id="rId13" Type="http://schemas.openxmlformats.org/officeDocument/2006/relationships/font" Target="fonts/CenturyGothic-italic.fntdata"/><Relationship Id="rId12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8286750" y="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45050" y="1028700"/>
            <a:ext cx="4940300" cy="2778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81685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4845050" y="1028700"/>
            <a:ext cx="4940300" cy="2778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ed8054b49_0_23:notes"/>
          <p:cNvSpPr txBox="1"/>
          <p:nvPr>
            <p:ph idx="1" type="body"/>
          </p:nvPr>
        </p:nvSpPr>
        <p:spPr>
          <a:xfrm>
            <a:off x="1463675" y="3960813"/>
            <a:ext cx="11703000" cy="324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ed8054b49_0_23:notes"/>
          <p:cNvSpPr/>
          <p:nvPr>
            <p:ph idx="2" type="sldImg"/>
          </p:nvPr>
        </p:nvSpPr>
        <p:spPr>
          <a:xfrm>
            <a:off x="4845050" y="1028700"/>
            <a:ext cx="4940400" cy="277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4845050" y="1028700"/>
            <a:ext cx="4940300" cy="2778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ed8054b49_0_2:notes"/>
          <p:cNvSpPr txBox="1"/>
          <p:nvPr>
            <p:ph idx="1" type="body"/>
          </p:nvPr>
        </p:nvSpPr>
        <p:spPr>
          <a:xfrm>
            <a:off x="1463675" y="3960813"/>
            <a:ext cx="11703000" cy="324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ced8054b49_0_2:notes"/>
          <p:cNvSpPr/>
          <p:nvPr>
            <p:ph idx="2" type="sldImg"/>
          </p:nvPr>
        </p:nvSpPr>
        <p:spPr>
          <a:xfrm>
            <a:off x="4845050" y="1028700"/>
            <a:ext cx="4940400" cy="277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168" y="7329175"/>
            <a:ext cx="2743200" cy="4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ctrTitle"/>
          </p:nvPr>
        </p:nvSpPr>
        <p:spPr>
          <a:xfrm>
            <a:off x="455168" y="3296295"/>
            <a:ext cx="6479032" cy="5899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9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472008" y="4419600"/>
            <a:ext cx="1552926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2" type="body"/>
          </p:nvPr>
        </p:nvSpPr>
        <p:spPr>
          <a:xfrm>
            <a:off x="2184267" y="4419600"/>
            <a:ext cx="47499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62307"/>
            <a:ext cx="1569766" cy="45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168" y="7329175"/>
            <a:ext cx="2743200" cy="4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ctrTitle"/>
          </p:nvPr>
        </p:nvSpPr>
        <p:spPr>
          <a:xfrm>
            <a:off x="455168" y="3296295"/>
            <a:ext cx="6479032" cy="5899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9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72008" y="4419600"/>
            <a:ext cx="1552926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sz="1200">
                <a:solidFill>
                  <a:srgbClr val="00295C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2184267" y="4419600"/>
            <a:ext cx="47499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  <a:defRPr b="0" sz="1200">
                <a:solidFill>
                  <a:srgbClr val="00295C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62307"/>
            <a:ext cx="1569766" cy="45209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7315200" y="0"/>
            <a:ext cx="7315200" cy="8229600"/>
          </a:xfrm>
          <a:custGeom>
            <a:rect b="b" l="l" r="r" t="t"/>
            <a:pathLst>
              <a:path extrusionOk="0" h="8229600" w="7315200">
                <a:moveTo>
                  <a:pt x="0" y="8229600"/>
                </a:moveTo>
                <a:lnTo>
                  <a:pt x="7315200" y="8229600"/>
                </a:lnTo>
                <a:lnTo>
                  <a:pt x="731520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solidFill>
            <a:srgbClr val="002A5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4114800"/>
            <a:ext cx="7315200" cy="4114800"/>
          </a:xfrm>
          <a:custGeom>
            <a:rect b="b" l="l" r="r" t="t"/>
            <a:pathLst>
              <a:path extrusionOk="0" h="4114800" w="7315200">
                <a:moveTo>
                  <a:pt x="0" y="4114800"/>
                </a:moveTo>
                <a:lnTo>
                  <a:pt x="7315200" y="4114800"/>
                </a:lnTo>
                <a:lnTo>
                  <a:pt x="73152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solidFill>
            <a:srgbClr val="FF64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0" y="0"/>
            <a:ext cx="7315200" cy="4114800"/>
          </a:xfrm>
          <a:custGeom>
            <a:rect b="b" l="l" r="r" t="t"/>
            <a:pathLst>
              <a:path extrusionOk="0" h="4114800" w="7315200">
                <a:moveTo>
                  <a:pt x="0" y="4114800"/>
                </a:moveTo>
                <a:lnTo>
                  <a:pt x="7315200" y="4114800"/>
                </a:lnTo>
                <a:lnTo>
                  <a:pt x="73152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solidFill>
            <a:srgbClr val="86594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168" y="462307"/>
            <a:ext cx="1569766" cy="45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168" y="7328735"/>
            <a:ext cx="2743200" cy="4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ctrTitle"/>
          </p:nvPr>
        </p:nvSpPr>
        <p:spPr>
          <a:xfrm>
            <a:off x="455168" y="3296295"/>
            <a:ext cx="6479032" cy="5899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2" type="pic"/>
          </p:nvPr>
        </p:nvSpPr>
        <p:spPr>
          <a:xfrm>
            <a:off x="7315198" y="0"/>
            <a:ext cx="7315202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72008" y="4419600"/>
            <a:ext cx="15529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3" type="body"/>
          </p:nvPr>
        </p:nvSpPr>
        <p:spPr>
          <a:xfrm>
            <a:off x="2184267" y="4419600"/>
            <a:ext cx="47499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7315200" cy="8229600"/>
          </a:xfrm>
          <a:custGeom>
            <a:rect b="b" l="l" r="r" t="t"/>
            <a:pathLst>
              <a:path extrusionOk="0" h="4114800" w="7315200">
                <a:moveTo>
                  <a:pt x="0" y="4114800"/>
                </a:moveTo>
                <a:lnTo>
                  <a:pt x="7315200" y="4114800"/>
                </a:lnTo>
                <a:lnTo>
                  <a:pt x="73152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solidFill>
            <a:srgbClr val="FF64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168" y="462307"/>
            <a:ext cx="1569766" cy="45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168" y="7328735"/>
            <a:ext cx="2743200" cy="4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type="ctrTitle"/>
          </p:nvPr>
        </p:nvSpPr>
        <p:spPr>
          <a:xfrm>
            <a:off x="455168" y="3296295"/>
            <a:ext cx="6479032" cy="5899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/>
          <p:nvPr>
            <p:ph idx="2" type="pic"/>
          </p:nvPr>
        </p:nvSpPr>
        <p:spPr>
          <a:xfrm>
            <a:off x="7315198" y="0"/>
            <a:ext cx="7315202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472008" y="4419600"/>
            <a:ext cx="15529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body"/>
          </p:nvPr>
        </p:nvSpPr>
        <p:spPr>
          <a:xfrm>
            <a:off x="2184267" y="4419600"/>
            <a:ext cx="47499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14630400" cy="7315200"/>
          </a:xfrm>
          <a:custGeom>
            <a:rect b="b" l="l" r="r" t="t"/>
            <a:pathLst>
              <a:path extrusionOk="0" h="7315200" w="14630400">
                <a:moveTo>
                  <a:pt x="0" y="7315200"/>
                </a:moveTo>
                <a:lnTo>
                  <a:pt x="14630400" y="7315200"/>
                </a:lnTo>
                <a:lnTo>
                  <a:pt x="14630400" y="0"/>
                </a:lnTo>
                <a:lnTo>
                  <a:pt x="0" y="0"/>
                </a:lnTo>
                <a:lnTo>
                  <a:pt x="0" y="7315200"/>
                </a:lnTo>
                <a:close/>
              </a:path>
            </a:pathLst>
          </a:custGeom>
          <a:solidFill>
            <a:srgbClr val="00295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4264640" y="3775199"/>
            <a:ext cx="26381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673100" y="609600"/>
            <a:ext cx="132842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73100" y="2008469"/>
            <a:ext cx="132842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810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810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797" y="7599236"/>
            <a:ext cx="1257865" cy="36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1819" y="7588681"/>
            <a:ext cx="2285311" cy="38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4171612" y="0"/>
            <a:ext cx="0" cy="7315200"/>
          </a:xfrm>
          <a:custGeom>
            <a:rect b="b" l="l" r="r" t="t"/>
            <a:pathLst>
              <a:path extrusionOk="0" h="7315200" w="120000">
                <a:moveTo>
                  <a:pt x="0" y="0"/>
                </a:moveTo>
                <a:lnTo>
                  <a:pt x="0" y="731520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171612" y="7315200"/>
            <a:ext cx="0" cy="914400"/>
          </a:xfrm>
          <a:custGeom>
            <a:rect b="b" l="l" r="r" t="t"/>
            <a:pathLst>
              <a:path extrusionOk="0" h="914400" w="1200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14630400" cy="7315200"/>
          </a:xfrm>
          <a:custGeom>
            <a:rect b="b" l="l" r="r" t="t"/>
            <a:pathLst>
              <a:path extrusionOk="0" h="7315200" w="14630400">
                <a:moveTo>
                  <a:pt x="0" y="7315200"/>
                </a:moveTo>
                <a:lnTo>
                  <a:pt x="14630400" y="7315200"/>
                </a:lnTo>
                <a:lnTo>
                  <a:pt x="14630400" y="0"/>
                </a:lnTo>
                <a:lnTo>
                  <a:pt x="0" y="0"/>
                </a:lnTo>
                <a:lnTo>
                  <a:pt x="0" y="7315200"/>
                </a:lnTo>
                <a:close/>
              </a:path>
            </a:pathLst>
          </a:custGeom>
          <a:solidFill>
            <a:srgbClr val="42AB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4264640" y="3775199"/>
            <a:ext cx="2638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554330" y="2000071"/>
            <a:ext cx="13284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797" y="7599236"/>
            <a:ext cx="1257865" cy="36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1819" y="7588681"/>
            <a:ext cx="2285311" cy="38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14171612" y="0"/>
            <a:ext cx="0" cy="7315200"/>
          </a:xfrm>
          <a:custGeom>
            <a:rect b="b" l="l" r="r" t="t"/>
            <a:pathLst>
              <a:path extrusionOk="0" h="7315200" w="120000">
                <a:moveTo>
                  <a:pt x="0" y="0"/>
                </a:moveTo>
                <a:lnTo>
                  <a:pt x="0" y="731520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14171612" y="7315200"/>
            <a:ext cx="0" cy="914400"/>
          </a:xfrm>
          <a:custGeom>
            <a:rect b="b" l="l" r="r" t="t"/>
            <a:pathLst>
              <a:path extrusionOk="0" h="914400" w="1200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7"/>
          <p:cNvSpPr txBox="1"/>
          <p:nvPr>
            <p:ph idx="1" type="body"/>
          </p:nvPr>
        </p:nvSpPr>
        <p:spPr>
          <a:xfrm>
            <a:off x="563295" y="575608"/>
            <a:ext cx="13284200" cy="510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Graphic">
  <p:cSld name="Title and Content with Graphic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4264640" y="3775199"/>
            <a:ext cx="2638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673100" y="609600"/>
            <a:ext cx="132842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200">
                <a:solidFill>
                  <a:srgbClr val="0029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797" y="7599236"/>
            <a:ext cx="1257865" cy="36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1819" y="7588681"/>
            <a:ext cx="2285311" cy="38807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14171612" y="0"/>
            <a:ext cx="0" cy="8229600"/>
          </a:xfrm>
          <a:custGeom>
            <a:rect b="b" l="l" r="r" t="t"/>
            <a:pathLst>
              <a:path extrusionOk="0" h="8229600" w="120000">
                <a:moveTo>
                  <a:pt x="0" y="0"/>
                </a:moveTo>
                <a:lnTo>
                  <a:pt x="0" y="8229600"/>
                </a:lnTo>
              </a:path>
            </a:pathLst>
          </a:custGeom>
          <a:noFill/>
          <a:ln cap="flat" cmpd="sng" w="9525">
            <a:solidFill>
              <a:srgbClr val="00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886200" y="2662515"/>
            <a:ext cx="10083796" cy="442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None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None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None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None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None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2" type="subTitle"/>
          </p:nvPr>
        </p:nvSpPr>
        <p:spPr>
          <a:xfrm>
            <a:off x="3968750" y="2171700"/>
            <a:ext cx="100012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  <a:defRPr b="1" sz="2200">
                <a:solidFill>
                  <a:srgbClr val="0029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/>
          <p:nvPr>
            <p:ph idx="3" type="pic"/>
          </p:nvPr>
        </p:nvSpPr>
        <p:spPr>
          <a:xfrm>
            <a:off x="685796" y="2258728"/>
            <a:ext cx="2802893" cy="27984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14264640" y="3775199"/>
            <a:ext cx="2638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673100" y="609600"/>
            <a:ext cx="132842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200">
                <a:solidFill>
                  <a:srgbClr val="0029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797" y="7599236"/>
            <a:ext cx="1257865" cy="36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1819" y="7588681"/>
            <a:ext cx="2285311" cy="3880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/>
          <p:nvPr/>
        </p:nvSpPr>
        <p:spPr>
          <a:xfrm>
            <a:off x="14171612" y="0"/>
            <a:ext cx="0" cy="8229600"/>
          </a:xfrm>
          <a:custGeom>
            <a:rect b="b" l="l" r="r" t="t"/>
            <a:pathLst>
              <a:path extrusionOk="0" h="8229600" w="120000">
                <a:moveTo>
                  <a:pt x="0" y="0"/>
                </a:moveTo>
                <a:lnTo>
                  <a:pt x="0" y="8229600"/>
                </a:lnTo>
              </a:path>
            </a:pathLst>
          </a:custGeom>
          <a:noFill/>
          <a:ln cap="flat" cmpd="sng" w="9525">
            <a:solidFill>
              <a:srgbClr val="00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673100" y="2662515"/>
            <a:ext cx="1329689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Char char="•"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Char char="•"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Char char="•"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Char char="•"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Font typeface="Arial"/>
              <a:buChar char="•"/>
              <a:defRPr b="0" i="0" sz="18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7315200" y="0"/>
            <a:ext cx="7315200" cy="8229600"/>
          </a:xfrm>
          <a:custGeom>
            <a:rect b="b" l="l" r="r" t="t"/>
            <a:pathLst>
              <a:path extrusionOk="0" h="8229600" w="7315200">
                <a:moveTo>
                  <a:pt x="0" y="8229600"/>
                </a:moveTo>
                <a:lnTo>
                  <a:pt x="7315200" y="8229600"/>
                </a:lnTo>
                <a:lnTo>
                  <a:pt x="731520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solidFill>
            <a:srgbClr val="00719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0" y="0"/>
            <a:ext cx="7315200" cy="8229600"/>
          </a:xfrm>
          <a:custGeom>
            <a:rect b="b" l="l" r="r" t="t"/>
            <a:pathLst>
              <a:path extrusionOk="0" h="8229600" w="7315200">
                <a:moveTo>
                  <a:pt x="0" y="8229600"/>
                </a:moveTo>
                <a:lnTo>
                  <a:pt x="7315200" y="8229600"/>
                </a:lnTo>
                <a:lnTo>
                  <a:pt x="731520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solidFill>
            <a:srgbClr val="002A5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7641927" y="3505200"/>
            <a:ext cx="6607474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7452" y="3534335"/>
            <a:ext cx="2401948" cy="69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7" y="7329092"/>
            <a:ext cx="2743200" cy="46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4264640" y="3775199"/>
            <a:ext cx="2638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673100" y="609600"/>
            <a:ext cx="126174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3100" y="2008469"/>
            <a:ext cx="1261745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810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810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ctrTitle"/>
          </p:nvPr>
        </p:nvSpPr>
        <p:spPr>
          <a:xfrm>
            <a:off x="480468" y="2416245"/>
            <a:ext cx="6479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Classifying Human Physical Activity Sequential Sensor Data Using Neural Networks </a:t>
            </a:r>
            <a:endParaRPr/>
          </a:p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480470" y="5514400"/>
            <a:ext cx="155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</a:pPr>
            <a:r>
              <a:rPr lang="en-US"/>
              <a:t>March 11, 2026</a:t>
            </a:r>
            <a:endParaRPr/>
          </a:p>
        </p:txBody>
      </p:sp>
      <p:sp>
        <p:nvSpPr>
          <p:cNvPr id="90" name="Google Shape;90;p12"/>
          <p:cNvSpPr txBox="1"/>
          <p:nvPr>
            <p:ph idx="2" type="body"/>
          </p:nvPr>
        </p:nvSpPr>
        <p:spPr>
          <a:xfrm>
            <a:off x="2192730" y="5514400"/>
            <a:ext cx="474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200"/>
              <a:buNone/>
            </a:pPr>
            <a:r>
              <a:rPr lang="en-US"/>
              <a:t>Owusu Boakye Gideon, Jessie Tian, and Urim Iyasere</a:t>
            </a:r>
            <a:endParaRPr/>
          </a:p>
        </p:txBody>
      </p:sp>
      <p:pic>
        <p:nvPicPr>
          <p:cNvPr id="91" name="Google Shape;91;p12" title="111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843" y="1755975"/>
            <a:ext cx="7374505" cy="4915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title"/>
          </p:nvPr>
        </p:nvSpPr>
        <p:spPr>
          <a:xfrm>
            <a:off x="673100" y="609600"/>
            <a:ext cx="13284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/>
              <a:t>Introduction and Research Questions</a:t>
            </a:r>
            <a:endParaRPr sz="4100"/>
          </a:p>
        </p:txBody>
      </p:sp>
      <p:sp>
        <p:nvSpPr>
          <p:cNvPr id="97" name="Google Shape;97;p13"/>
          <p:cNvSpPr txBox="1"/>
          <p:nvPr>
            <p:ph idx="2" type="subTitle"/>
          </p:nvPr>
        </p:nvSpPr>
        <p:spPr>
          <a:xfrm>
            <a:off x="575325" y="1802975"/>
            <a:ext cx="8331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</a:pPr>
            <a:r>
              <a:rPr lang="en-US"/>
              <a:t>Background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0" lang="en-US" sz="1900">
                <a:latin typeface="Arial"/>
                <a:ea typeface="Arial"/>
                <a:cs typeface="Arial"/>
                <a:sym typeface="Arial"/>
              </a:rPr>
              <a:t>Mobile health (mHealth) technologies have been increasingly utilised to improve remote monitoring, preventative care, and patient engagement. 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0" lang="en-US" sz="1900">
                <a:latin typeface="Arial"/>
                <a:ea typeface="Arial"/>
                <a:cs typeface="Arial"/>
                <a:sym typeface="Arial"/>
              </a:rPr>
              <a:t>Accurate prediction of human exercise and activity levels can improve personalised fitness tracking and population-level public health monitoring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14264640" y="3775199"/>
            <a:ext cx="26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331700" y="5779750"/>
            <a:ext cx="11297400" cy="1465500"/>
          </a:xfrm>
          <a:prstGeom prst="rect">
            <a:avLst/>
          </a:prstGeom>
          <a:solidFill>
            <a:srgbClr val="007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a sequential neural network accurately predict and discriminate human activity levels using wearable sensor readings?</a:t>
            </a:r>
            <a:endParaRPr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75325" y="4058350"/>
            <a:ext cx="4026900" cy="458100"/>
          </a:xfrm>
          <a:prstGeom prst="rect">
            <a:avLst/>
          </a:prstGeom>
          <a:solidFill>
            <a:srgbClr val="C4D82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Font typeface="Arial"/>
              <a:buNone/>
            </a:pPr>
            <a:r>
              <a:rPr b="1" lang="en-US" sz="15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Sample: 9 healthy participants, &gt;18 y.o.</a:t>
            </a:r>
            <a:endParaRPr b="1" sz="15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29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4821650" y="4058350"/>
            <a:ext cx="2717100" cy="458100"/>
          </a:xfrm>
          <a:prstGeom prst="rect">
            <a:avLst/>
          </a:prstGeom>
          <a:solidFill>
            <a:srgbClr val="FEBE1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Label: Activity levels (0-12)</a:t>
            </a:r>
            <a:endParaRPr b="1"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566075" y="4710100"/>
            <a:ext cx="4822800" cy="738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Features: Accelerometer (left ankle, lower arm) and gyroscope metrics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3" name="Google Shape;103;p13" title="4135474.jpg"/>
          <p:cNvPicPr preferRelativeResize="0"/>
          <p:nvPr/>
        </p:nvPicPr>
        <p:blipFill rotWithShape="1">
          <a:blip r:embed="rId3">
            <a:alphaModFix/>
          </a:blip>
          <a:srcRect b="0" l="6355" r="3498" t="4843"/>
          <a:stretch/>
        </p:blipFill>
        <p:spPr>
          <a:xfrm>
            <a:off x="9086025" y="1961625"/>
            <a:ext cx="4555648" cy="3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194788" y="231025"/>
            <a:ext cx="13284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/>
              <a:t>Data engineering and modelling</a:t>
            </a:r>
            <a:endParaRPr sz="4100"/>
          </a:p>
        </p:txBody>
      </p:sp>
      <p:sp>
        <p:nvSpPr>
          <p:cNvPr id="109" name="Google Shape;109;p14"/>
          <p:cNvSpPr txBox="1"/>
          <p:nvPr>
            <p:ph idx="2" type="subTitle"/>
          </p:nvPr>
        </p:nvSpPr>
        <p:spPr>
          <a:xfrm>
            <a:off x="1218675" y="1684350"/>
            <a:ext cx="48384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</a:pPr>
            <a:r>
              <a:rPr lang="en-US" sz="2000"/>
              <a:t>Data Cleaning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Checking missing data and outliers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Dropped subject 9 </a:t>
            </a: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for high degree of missing activity information from 3-12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Dropped activity 0 (“nothing”) </a:t>
            </a: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due to lack of clinical meaning and large class imbalance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</a:pPr>
            <a:r>
              <a:rPr lang="en-US" sz="2000"/>
              <a:t>Preparation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 splitting</a:t>
            </a: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 by subject: 80% training, 20% </a:t>
            </a: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test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Rolling window sequence generation:</a:t>
            </a: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2000"/>
              <a:buChar char="-"/>
            </a:pPr>
            <a:r>
              <a:rPr b="0" lang="en-US" sz="2000">
                <a:solidFill>
                  <a:srgbClr val="002A5C"/>
                </a:solidFill>
                <a:latin typeface="Arial"/>
                <a:ea typeface="Arial"/>
                <a:cs typeface="Arial"/>
                <a:sym typeface="Arial"/>
              </a:rPr>
              <a:t>window size = 200, stride = 100</a:t>
            </a:r>
            <a:endParaRPr b="0" sz="2000">
              <a:solidFill>
                <a:srgbClr val="002A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Resulting groupings: 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Training: (2650, 200, 12)</a:t>
            </a:r>
            <a:endParaRPr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Test: (675, 200, 12)</a:t>
            </a:r>
            <a:endParaRPr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14264640" y="3775199"/>
            <a:ext cx="26381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4"/>
          <p:cNvSpPr txBox="1"/>
          <p:nvPr>
            <p:ph idx="2" type="subTitle"/>
          </p:nvPr>
        </p:nvSpPr>
        <p:spPr>
          <a:xfrm>
            <a:off x="7772650" y="1536600"/>
            <a:ext cx="6061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</a:pPr>
            <a:r>
              <a:rPr lang="en-US" sz="2000">
                <a:solidFill>
                  <a:srgbClr val="00295C"/>
                </a:solidFill>
              </a:rPr>
              <a:t>Modeling </a:t>
            </a:r>
            <a:endParaRPr sz="2000">
              <a:solidFill>
                <a:srgbClr val="00295C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3 hidden layers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Adam optimiser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ross-entropy loss function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ctivation function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ReLU(hidden)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Char char="-"/>
            </a:pP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Softmax (output)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Font typeface="Arial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Dr</a:t>
            </a: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opout layers (0.5, 0.2)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000"/>
              <a:buFont typeface="Arial"/>
              <a:buChar char="-"/>
            </a:pPr>
            <a:r>
              <a:rPr b="0" lang="en-US" sz="200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arly stopping: patience = 10</a:t>
            </a:r>
            <a:endParaRPr b="0"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95C"/>
                </a:solidFill>
                <a:latin typeface="Arial"/>
                <a:ea typeface="Arial"/>
                <a:cs typeface="Arial"/>
                <a:sym typeface="Arial"/>
              </a:rPr>
              <a:t>Performance on accuracy and F1-scores</a:t>
            </a:r>
            <a:endParaRPr sz="2000">
              <a:solidFill>
                <a:srgbClr val="0029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None/>
            </a:pPr>
            <a:r>
              <a:t/>
            </a:r>
            <a:endParaRPr sz="2000">
              <a:solidFill>
                <a:srgbClr val="00295C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482425" y="4923000"/>
            <a:ext cx="3056100" cy="2601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RNN</a:t>
            </a:r>
            <a:endParaRPr b="1" sz="21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Hidden nodes: 64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Epoch: 100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Learning Rate: 0.0001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Batch Size: 128</a:t>
            </a:r>
            <a:endParaRPr sz="2100">
              <a:solidFill>
                <a:srgbClr val="0029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686825" y="4923000"/>
            <a:ext cx="3387600" cy="2601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LSTM</a:t>
            </a:r>
            <a:endParaRPr b="1" sz="23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Hidden nodes: 64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Epoch: 100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Learning Rate: 0.001</a:t>
            </a:r>
            <a:endParaRPr sz="2100">
              <a:solidFill>
                <a:srgbClr val="00295C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100"/>
              <a:buChar char="-"/>
            </a:pPr>
            <a:r>
              <a:rPr lang="en-US" sz="2100">
                <a:solidFill>
                  <a:srgbClr val="00295C"/>
                </a:solidFill>
              </a:rPr>
              <a:t>Batch Size: 512</a:t>
            </a:r>
            <a:endParaRPr b="1" sz="23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4" name="Google Shape;114;p14" title="clea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82" y="1684350"/>
            <a:ext cx="754749" cy="75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title="food-prepar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165" y="4664900"/>
            <a:ext cx="877175" cy="87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title="neural-n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7275" y="1459250"/>
            <a:ext cx="1011025" cy="10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361775" y="157775"/>
            <a:ext cx="13284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/>
              <a:t>Findings</a:t>
            </a:r>
            <a:endParaRPr sz="4100"/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14264640" y="3775199"/>
            <a:ext cx="26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18701" y="426425"/>
            <a:ext cx="4922400" cy="3409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8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RNN</a:t>
            </a:r>
            <a:endParaRPr b="1" sz="2018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418701" y="4000142"/>
            <a:ext cx="4922400" cy="347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8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LSTM</a:t>
            </a:r>
            <a:endParaRPr b="1" sz="2018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25" name="Google Shape;125;p15"/>
          <p:cNvGraphicFramePr/>
          <p:nvPr/>
        </p:nvGraphicFramePr>
        <p:xfrm>
          <a:off x="428850" y="171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{38B7AFB1-5672-4B3D-AF53-EA0E7236ACCD}</a:tableStyleId>
              </a:tblPr>
              <a:tblGrid>
                <a:gridCol w="1152325"/>
                <a:gridCol w="2002575"/>
                <a:gridCol w="1577450"/>
                <a:gridCol w="1577450"/>
              </a:tblGrid>
              <a:tr h="37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FFFFF"/>
                          </a:highlight>
                        </a:rPr>
                        <a:t>Model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FFFFF"/>
                          </a:highlight>
                        </a:rPr>
                        <a:t>Epoch (early stop)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FFFFF"/>
                          </a:highlight>
                        </a:rPr>
                        <a:t>Accuracy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FFFFF"/>
                          </a:highlight>
                        </a:rPr>
                        <a:t>F1 Score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295C"/>
                          </a:solidFill>
                          <a:highlight>
                            <a:srgbClr val="FFFFFF"/>
                          </a:highlight>
                        </a:rPr>
                        <a:t>RNN</a:t>
                      </a:r>
                      <a:endParaRPr sz="1600">
                        <a:solidFill>
                          <a:srgbClr val="00295C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295C"/>
                          </a:solidFill>
                        </a:rPr>
                        <a:t>62</a:t>
                      </a:r>
                      <a:endParaRPr sz="1600">
                        <a:solidFill>
                          <a:srgbClr val="00295C"/>
                        </a:solidFill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295C"/>
                          </a:solidFill>
                        </a:rPr>
                        <a:t>0.3259</a:t>
                      </a:r>
                      <a:endParaRPr sz="1600">
                        <a:solidFill>
                          <a:srgbClr val="00295C"/>
                        </a:solidFill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295C"/>
                          </a:solidFill>
                        </a:rPr>
                        <a:t>0.2309</a:t>
                      </a:r>
                      <a:endParaRPr sz="1600">
                        <a:solidFill>
                          <a:srgbClr val="00295C"/>
                        </a:solidFill>
                      </a:endParaRPr>
                    </a:p>
                  </a:txBody>
                  <a:tcPr marT="36000" marB="36000" marR="36000" marL="360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9E018"/>
                          </a:highlight>
                        </a:rPr>
                        <a:t>LSTM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9E018"/>
                        </a:highlight>
                      </a:endParaRPr>
                    </a:p>
                  </a:txBody>
                  <a:tcPr marT="36000" marB="36000" marR="36000" marL="360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9E018"/>
                          </a:highlight>
                        </a:rPr>
                        <a:t>28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9E018"/>
                        </a:highlight>
                      </a:endParaRPr>
                    </a:p>
                  </a:txBody>
                  <a:tcPr marT="36000" marB="36000" marR="36000" marL="360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9E018"/>
                          </a:highlight>
                        </a:rPr>
                        <a:t>0.3615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9E018"/>
                        </a:highlight>
                      </a:endParaRPr>
                    </a:p>
                  </a:txBody>
                  <a:tcPr marT="36000" marB="36000" marR="36000" marL="360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95C"/>
                          </a:solidFill>
                          <a:highlight>
                            <a:srgbClr val="F9E018"/>
                          </a:highlight>
                        </a:rPr>
                        <a:t>0.3039</a:t>
                      </a:r>
                      <a:endParaRPr b="1" sz="1600">
                        <a:solidFill>
                          <a:srgbClr val="00295C"/>
                        </a:solidFill>
                        <a:highlight>
                          <a:srgbClr val="F9E018"/>
                        </a:highlight>
                      </a:endParaRPr>
                    </a:p>
                  </a:txBody>
                  <a:tcPr marT="36000" marB="36000" marR="36000" marL="360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5"/>
          <p:cNvSpPr txBox="1"/>
          <p:nvPr/>
        </p:nvSpPr>
        <p:spPr>
          <a:xfrm>
            <a:off x="428850" y="1052950"/>
            <a:ext cx="8316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29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metrics evaluated on test set</a:t>
            </a:r>
            <a:endParaRPr b="1" sz="2300">
              <a:solidFill>
                <a:srgbClr val="00295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97950" y="6097550"/>
            <a:ext cx="7107000" cy="1111500"/>
          </a:xfrm>
          <a:prstGeom prst="rect">
            <a:avLst/>
          </a:prstGeom>
          <a:solidFill>
            <a:srgbClr val="00719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22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Future directions: 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-US" sz="1800">
                <a:solidFill>
                  <a:schemeClr val="lt1"/>
                </a:solidFill>
              </a:rPr>
              <a:t>Re-encoding activities and simplify classification tasks with larger categories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8" name="Google Shape;128;p15" title="Screenshot 2026-03-11 at 3.42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4449" y="652809"/>
            <a:ext cx="3662125" cy="304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title="Screenshot 2026-03-11 at 3.42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8203" y="4476837"/>
            <a:ext cx="4369828" cy="28990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497950" y="3094775"/>
            <a:ext cx="754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b="1" lang="en-US" sz="1800">
                <a:solidFill>
                  <a:srgbClr val="00295C"/>
                </a:solidFill>
              </a:rPr>
              <a:t>Overfitting</a:t>
            </a:r>
            <a:r>
              <a:rPr lang="en-US" sz="1800">
                <a:solidFill>
                  <a:srgbClr val="00295C"/>
                </a:solidFill>
              </a:rPr>
              <a:t> for both NN → limited generalisability on unseen data</a:t>
            </a:r>
            <a:endParaRPr sz="1800">
              <a:solidFill>
                <a:srgbClr val="00295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b="1" lang="en-US" sz="1800">
                <a:solidFill>
                  <a:srgbClr val="00295C"/>
                </a:solidFill>
                <a:highlight>
                  <a:srgbClr val="F9E018"/>
                </a:highlight>
              </a:rPr>
              <a:t>LSTM outperforms by accuracy and F1-score</a:t>
            </a:r>
            <a:endParaRPr b="1" sz="1800">
              <a:solidFill>
                <a:srgbClr val="00295C"/>
              </a:solidFill>
              <a:highlight>
                <a:srgbClr val="F9E018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lang="en-US" sz="1800">
                <a:solidFill>
                  <a:srgbClr val="00295C"/>
                </a:solidFill>
              </a:rPr>
              <a:t>robust to long sequences</a:t>
            </a:r>
            <a:endParaRPr sz="1800">
              <a:solidFill>
                <a:srgbClr val="00295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lang="en-US" sz="1800">
                <a:solidFill>
                  <a:srgbClr val="00295C"/>
                </a:solidFill>
              </a:rPr>
              <a:t>Recall and precision was 0 for several features </a:t>
            </a:r>
            <a:endParaRPr sz="1800">
              <a:solidFill>
                <a:srgbClr val="0029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95C"/>
                </a:solidFill>
              </a:rPr>
              <a:t>Limitations</a:t>
            </a:r>
            <a:endParaRPr b="1" sz="1800">
              <a:solidFill>
                <a:srgbClr val="00295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lang="en-US" sz="1800">
                <a:solidFill>
                  <a:srgbClr val="00295C"/>
                </a:solidFill>
              </a:rPr>
              <a:t>Complex multiclassification prediction task more prone to misclassifying </a:t>
            </a:r>
            <a:endParaRPr sz="1800">
              <a:solidFill>
                <a:srgbClr val="00295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lang="en-US" sz="1800">
                <a:solidFill>
                  <a:srgbClr val="00295C"/>
                </a:solidFill>
              </a:rPr>
              <a:t>Limited generalisability to healthy patients</a:t>
            </a:r>
            <a:endParaRPr sz="1800">
              <a:solidFill>
                <a:srgbClr val="00295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95C"/>
              </a:buClr>
              <a:buSzPts val="1800"/>
              <a:buChar char="-"/>
            </a:pPr>
            <a:r>
              <a:rPr lang="en-US" sz="1800">
                <a:solidFill>
                  <a:srgbClr val="00295C"/>
                </a:solidFill>
              </a:rPr>
              <a:t>Computational limitations for cross-validation and hyperparameter tuning </a:t>
            </a:r>
            <a:endParaRPr sz="1800">
              <a:solidFill>
                <a:srgbClr val="0029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